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开场：本项目面向基层党组织台账事务，围绕离线可用、口径严谨、基层减负三条主线，已迭代至 V3.5.3 稳定版本。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痛点与目标一一对应：人员流动 → 时间线口径；事务繁重 → 自动化；数据分散 → 统一口径；安全约束 → 完全离线。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流程主线是"录入—固化—计算—呈现—输出"；保障闭环是"备份—文件—融合"，配合 25 类操作留痕，形成可审计的数据治理链。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重点说明：没有后端、没有网络请求，IndexedDB 单库承载全部数据；统计口径以纯函数集中承载，便于测试与跨模块复用。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强调"可核验"：图表标题与悬浮提示都写明口径（时间线在职、快照优先、支委会排除、空值不计入），避免统计黑箱。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本页讲两件事：统计口径的严谨性（三项自洽、快照优先、时间线在职），以及台账的规范化输出（一次导出即成品，无需人工再整理）。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这是本项目最核心的技术亮点：时间线口径让系统天然适配机构改革的人员流动。示例可现场讲解借调与回归的计入规则。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谈心谈话模块的选项不是自由文本，而是按文件规定的谈话主体关系与"五必谈"情形预设，保证记录口径统一；对外合作方面已联合上海市气象数据中心开展试用迭代。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结语落点：系统已稳定可用，对外合作正在推进；请专家重点评议时间线口径与离线架构的设计合理性。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7744" y="0"/>
            <a:ext cx="45720" cy="6858000"/>
          </a:xfrm>
          <a:prstGeom prst="rect">
            <a:avLst/>
          </a:prstGeom>
          <a:solidFill>
            <a:srgbClr val="F0C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52360" y="-1234440"/>
            <a:ext cx="6035040" cy="603504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0C9C9">
                <a:alpha val="5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52360" y="-960120"/>
            <a:ext cx="5705856" cy="5705856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0C9C9">
                <a:alpha val="5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52360" y="-685800"/>
            <a:ext cx="5376672" cy="5376672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0C9C9">
                <a:alpha val="5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-411480"/>
            <a:ext cx="5047488" cy="5047488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0C9C9">
                <a:alpha val="5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52360" y="-137160"/>
            <a:ext cx="4718304" cy="4718304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0C9C9">
                <a:alpha val="5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52360" y="137160"/>
            <a:ext cx="4389120" cy="438912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0C9C9">
                <a:alpha val="5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52360" y="411480"/>
            <a:ext cx="4059936" cy="4059936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0C9C9">
                <a:alpha val="5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52360" y="685800"/>
            <a:ext cx="3730752" cy="3730752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0C9C9">
                <a:alpha val="5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52360" y="960120"/>
            <a:ext cx="3401568" cy="3401568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F0C9C9">
                <a:alpha val="5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4440" y="1920240"/>
            <a:ext cx="475488" cy="50292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2103120"/>
            <a:ext cx="69494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广东省气象服务中心 · 科技项目课题答辩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07008" y="2487168"/>
            <a:ext cx="8778240" cy="8412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4000" b="1" spc="200" kern="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党建工作台账系统</a:t>
            </a:r>
            <a:endParaRPr lang="en-US" sz="4000" dirty="0"/>
          </a:p>
        </p:txBody>
      </p:sp>
      <p:sp>
        <p:nvSpPr>
          <p:cNvPr id="16" name="Shape 14"/>
          <p:cNvSpPr/>
          <p:nvPr/>
        </p:nvSpPr>
        <p:spPr>
          <a:xfrm>
            <a:off x="1243584" y="3511296"/>
            <a:ext cx="1371600" cy="0"/>
          </a:xfrm>
          <a:prstGeom prst="line">
            <a:avLst/>
          </a:prstGeom>
          <a:noFill/>
          <a:ln w="31750">
            <a:solidFill>
              <a:srgbClr val="CC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3675888"/>
            <a:ext cx="768096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spc="60" kern="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离线可视化 · 全口径统计 · 规范化台账导出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4059936"/>
            <a:ext cx="804672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面向基层党组织会议记录、人员时间线、谈心谈话与台账统计的一体化数字平台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234440" y="5440680"/>
            <a:ext cx="2286000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5532120"/>
            <a:ext cx="228600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汇报单位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234440" y="5733288"/>
            <a:ext cx="22860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广东省气象服务中心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31920" y="5440680"/>
            <a:ext cx="2286000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5532120"/>
            <a:ext cx="228600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系统版本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931920" y="5733288"/>
            <a:ext cx="22860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V3.5.3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29400" y="5440680"/>
            <a:ext cx="2286000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5532120"/>
            <a:ext cx="228600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答辩时间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629400" y="5733288"/>
            <a:ext cx="22860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 9 月</a:t>
            </a:r>
            <a:endParaRPr lang="en-US" sz="1100" dirty="0"/>
          </a:p>
        </p:txBody>
      </p:sp>
      <p:sp>
        <p:nvSpPr>
          <p:cNvPr id="28" name="AILabel"/>
          <p:cNvSpPr txBox="1"/>
          <p:nvPr/>
        </p:nvSpPr>
        <p:spPr>
          <a:xfrm>
            <a:off x="9611695" y="62780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10874959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汇报纲要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060704"/>
            <a:ext cx="10874959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从背景、设计到优势、展望，共六个部分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58368" y="1444752"/>
            <a:ext cx="10874959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345936"/>
            <a:ext cx="6400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广东省气象服务中心 · 科技项目课题答辩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618927" y="6345936"/>
            <a:ext cx="914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8368" y="1828800"/>
            <a:ext cx="5282032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" y="1828800"/>
            <a:ext cx="45720" cy="1225296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011680"/>
            <a:ext cx="84124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828800" y="2011680"/>
            <a:ext cx="3910432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项目背景与建设目标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28800" y="2377440"/>
            <a:ext cx="391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机构改革人员流动、台账事务繁重、数据分散、安全约束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51296" y="1828800"/>
            <a:ext cx="5282032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0440" y="1828800"/>
            <a:ext cx="45720" cy="1225296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25616" y="2011680"/>
            <a:ext cx="84124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421728" y="2011680"/>
            <a:ext cx="3910432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系统总览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21728" y="2377440"/>
            <a:ext cx="391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七大功能模块、数据模型、技术栈与交付形态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8368" y="3218688"/>
            <a:ext cx="5282032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" y="3218688"/>
            <a:ext cx="45720" cy="1225296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3401568"/>
            <a:ext cx="84124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828800" y="3401568"/>
            <a:ext cx="3910432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系统流程设计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828800" y="3767328"/>
            <a:ext cx="391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采集 → 快照固化 → 口径计算 → 呈现 → 台账产出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51296" y="3218688"/>
            <a:ext cx="5282032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0440" y="3218688"/>
            <a:ext cx="45720" cy="1225296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25616" y="3401568"/>
            <a:ext cx="84124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421728" y="3401568"/>
            <a:ext cx="3910432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系统架构设计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21728" y="3767328"/>
            <a:ext cx="391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交付层 / 交互层 / 展示与计算层 / 数据层 / 输出层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58368" y="4608576"/>
            <a:ext cx="5282032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7512" y="4608576"/>
            <a:ext cx="45720" cy="1225296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32688" y="4791456"/>
            <a:ext cx="84124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1828800" y="4791456"/>
            <a:ext cx="3910432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七项核心优势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828800" y="5157216"/>
            <a:ext cx="391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离线、可视化、统计、导出、时间线、谈心谈话、减负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51296" y="4608576"/>
            <a:ext cx="5282032" cy="1225296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60440" y="4608576"/>
            <a:ext cx="45720" cy="1225296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25616" y="4791456"/>
            <a:ext cx="84124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7421728" y="4791456"/>
            <a:ext cx="3910432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合作拓展与结语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421728" y="5157216"/>
            <a:ext cx="3910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联合上海市气象数据中心试用迭代与下一步计划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/ 项目背景与建设目标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10874959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现实痛点倒逼设计目标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060704"/>
            <a:ext cx="10874959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以机构改革中的人员流动为切入点，重建台账统计的严谨基线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58368" y="1444752"/>
            <a:ext cx="10874959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345936"/>
            <a:ext cx="6400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广东省气象服务中心 · 科技项目课题答辩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618927" y="6345936"/>
            <a:ext cx="914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8368" y="1755648"/>
            <a:ext cx="5291176" cy="4059936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" y="1755648"/>
            <a:ext cx="5272888" cy="41148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1920240"/>
            <a:ext cx="483397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▍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建设背景与痛点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6112" y="2304288"/>
            <a:ext cx="483397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0"/>
              </a:lnSpc>
              <a:buNone/>
            </a:pPr>
            <a:r>
              <a:rPr lang="en-US" sz="100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</a:t>
            </a:r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人员流动常态化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42416" y="2500884"/>
            <a:ext cx="46876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机构改革中调离、借调、回归频繁；仅存"当前状态"使历史台账失真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96112" y="2736342"/>
            <a:ext cx="483397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0"/>
              </a:lnSpc>
              <a:buNone/>
            </a:pPr>
            <a:r>
              <a:rPr lang="en-US" sz="100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</a:t>
            </a:r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台账整理繁重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42416" y="2932938"/>
            <a:ext cx="46876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会议记录、参会考勤、分类子表、月度汇总依赖人工，填报口径不一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96112" y="3168396"/>
            <a:ext cx="483397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0"/>
              </a:lnSpc>
              <a:buNone/>
            </a:pPr>
            <a:r>
              <a:rPr lang="en-US" sz="100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</a:t>
            </a:r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数据各自为政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42416" y="3364992"/>
            <a:ext cx="46876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党小组、部室、部门多维度统计分散，结果难以相互印证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96112" y="3600450"/>
            <a:ext cx="483397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0"/>
              </a:lnSpc>
              <a:buNone/>
            </a:pPr>
            <a:r>
              <a:rPr lang="en-US" sz="100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</a:t>
            </a:r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安全约束明确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42416" y="3797046"/>
            <a:ext cx="46876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基层党务数据敏感，不宜部署于公有云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96112" y="4032504"/>
            <a:ext cx="483397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0"/>
              </a:lnSpc>
              <a:buNone/>
            </a:pPr>
            <a:r>
              <a:rPr lang="en-US" sz="100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</a:t>
            </a:r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场景要求特殊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42416" y="4229100"/>
            <a:ext cx="46876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内网与完全离线环境下仍需完整可用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42152" y="1755648"/>
            <a:ext cx="5291176" cy="4059936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51296" y="1755648"/>
            <a:ext cx="5272888" cy="41148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9896" y="1920240"/>
            <a:ext cx="483397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▍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建设目标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79896" y="2304288"/>
            <a:ext cx="483397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0"/>
              </a:lnSpc>
              <a:buNone/>
            </a:pPr>
            <a:r>
              <a:rPr lang="en-US" sz="100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</a:t>
            </a:r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一次录入、全局复用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26200" y="2500884"/>
            <a:ext cx="46876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会议与人员一次录入，统计与台账自动产出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79896" y="2736342"/>
            <a:ext cx="483397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0"/>
              </a:lnSpc>
              <a:buNone/>
            </a:pPr>
            <a:r>
              <a:rPr lang="en-US" sz="100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</a:t>
            </a:r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全口径严谨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26200" y="2932938"/>
            <a:ext cx="46876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统一"时间线在职"判定，历史可追溯、合计自洽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79896" y="3168396"/>
            <a:ext cx="483397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0"/>
              </a:lnSpc>
              <a:buNone/>
            </a:pPr>
            <a:r>
              <a:rPr lang="en-US" sz="100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</a:t>
            </a:r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完全离线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26200" y="3364992"/>
            <a:ext cx="46876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数据本地存储，零网络依赖、零后端服务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79896" y="3600450"/>
            <a:ext cx="483397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0"/>
              </a:lnSpc>
              <a:buNone/>
            </a:pPr>
            <a:r>
              <a:rPr lang="en-US" sz="100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</a:t>
            </a:r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规范输出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626200" y="3797046"/>
            <a:ext cx="46876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统一党建红模板的 Excel 台账与 Word 报告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79896" y="4032504"/>
            <a:ext cx="4833976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0"/>
              </a:lnSpc>
              <a:buNone/>
            </a:pPr>
            <a:r>
              <a:rPr lang="en-US" sz="100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</a:t>
            </a:r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基层减负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26200" y="4229100"/>
            <a:ext cx="46876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把党小组长从重复填报与核对中解放出来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/ 系统总览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10874959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七大功能模块 · 一体化台账平台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060704"/>
            <a:ext cx="10874959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覆盖数据录入、统计决策、台账输出与数据治理的完整闭环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58368" y="1444752"/>
            <a:ext cx="10874959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345936"/>
            <a:ext cx="6400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广东省气象服务中心 · 科技项目课题答辩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618927" y="6345936"/>
            <a:ext cx="914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" y="1700784"/>
            <a:ext cx="2743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功能模块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58368" y="1975104"/>
            <a:ext cx="259529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066544"/>
            <a:ext cx="4572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4672" y="2267712"/>
            <a:ext cx="230268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数据看板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2542032"/>
            <a:ext cx="230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指标卡 + 5 张图表，年份可切换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18256" y="1975104"/>
            <a:ext cx="259529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4560" y="2066544"/>
            <a:ext cx="4572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64560" y="2267712"/>
            <a:ext cx="230268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组织架构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64560" y="2542032"/>
            <a:ext cx="230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书记 / 副书记 / 支委 / 党小组四层树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78144" y="1975104"/>
            <a:ext cx="259529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4448" y="2066544"/>
            <a:ext cx="4572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24448" y="2267712"/>
            <a:ext cx="230268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人员管理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24448" y="2542032"/>
            <a:ext cx="230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档案、状态时间线、批量导入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938031" y="1975104"/>
            <a:ext cx="259529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84335" y="2066544"/>
            <a:ext cx="4572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084335" y="2267712"/>
            <a:ext cx="230268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会议管理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84335" y="2542032"/>
            <a:ext cx="230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记录录入、出勤统计、台账导出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58368" y="3017520"/>
            <a:ext cx="259529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3108960"/>
            <a:ext cx="4572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4672" y="3310128"/>
            <a:ext cx="230268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谈心谈话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4672" y="3584448"/>
            <a:ext cx="230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类类型、五必谈、台账导出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418256" y="3017520"/>
            <a:ext cx="259529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4560" y="3108960"/>
            <a:ext cx="4572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564560" y="3310128"/>
            <a:ext cx="230268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操作日志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564560" y="3584448"/>
            <a:ext cx="230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 类操作全留痕、可筛选审计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78144" y="3017520"/>
            <a:ext cx="259529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24448" y="3108960"/>
            <a:ext cx="4572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24448" y="3310128"/>
            <a:ext cx="230268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数据管理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24448" y="3584448"/>
            <a:ext cx="230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备份恢复、数据融合、自动备份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938031" y="3017520"/>
            <a:ext cx="2595296" cy="91440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 w="12700">
            <a:solidFill>
              <a:srgbClr val="F0C9C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84335" y="3108960"/>
            <a:ext cx="4572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084335" y="3310128"/>
            <a:ext cx="230268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统一底座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084335" y="3584448"/>
            <a:ext cx="230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单实例运行 · 快照固化 · 全链路留痕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58368" y="4114800"/>
            <a:ext cx="2743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关键规模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58368" y="4370832"/>
            <a:ext cx="2028688" cy="694944"/>
          </a:xfrm>
          <a:prstGeom prst="roundRect">
            <a:avLst>
              <a:gd name="adj" fmla="val 7895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1248" y="4443984"/>
            <a:ext cx="1662928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pPr algn="l" indent="0" marL="0">
              <a:buNone/>
            </a:pPr>
            <a:r>
              <a:rPr lang="en-US" sz="115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个</a:t>
            </a:r>
            <a:endParaRPr lang="en-US" sz="2700" dirty="0"/>
          </a:p>
        </p:txBody>
      </p:sp>
      <p:sp>
        <p:nvSpPr>
          <p:cNvPr id="46" name="Text 44"/>
          <p:cNvSpPr/>
          <p:nvPr/>
        </p:nvSpPr>
        <p:spPr>
          <a:xfrm>
            <a:off x="841248" y="4855464"/>
            <a:ext cx="1662928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功能模块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869936" y="4370832"/>
            <a:ext cx="2028688" cy="694944"/>
          </a:xfrm>
          <a:prstGeom prst="roundRect">
            <a:avLst>
              <a:gd name="adj" fmla="val 7895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52816" y="4443984"/>
            <a:ext cx="1662928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l" indent="0" marL="0">
              <a:buNone/>
            </a:pPr>
            <a:r>
              <a:rPr lang="en-US" sz="115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张</a:t>
            </a:r>
            <a:endParaRPr lang="en-US" sz="2700" dirty="0"/>
          </a:p>
        </p:txBody>
      </p:sp>
      <p:sp>
        <p:nvSpPr>
          <p:cNvPr id="49" name="Text 47"/>
          <p:cNvSpPr/>
          <p:nvPr/>
        </p:nvSpPr>
        <p:spPr>
          <a:xfrm>
            <a:off x="3052816" y="4855464"/>
            <a:ext cx="1662928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数据表 · Schema V3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081504" y="4370832"/>
            <a:ext cx="2028688" cy="694944"/>
          </a:xfrm>
          <a:prstGeom prst="roundRect">
            <a:avLst>
              <a:gd name="adj" fmla="val 7895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64384" y="4443984"/>
            <a:ext cx="1662928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algn="l" indent="0" marL="0">
              <a:buNone/>
            </a:pPr>
            <a:r>
              <a:rPr lang="en-US" sz="115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张</a:t>
            </a:r>
            <a:endParaRPr lang="en-US" sz="2700" dirty="0"/>
          </a:p>
        </p:txBody>
      </p:sp>
      <p:sp>
        <p:nvSpPr>
          <p:cNvPr id="52" name="Text 50"/>
          <p:cNvSpPr/>
          <p:nvPr/>
        </p:nvSpPr>
        <p:spPr>
          <a:xfrm>
            <a:off x="5264384" y="4855464"/>
            <a:ext cx="1662928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看板可视化图表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293072" y="4370832"/>
            <a:ext cx="2028688" cy="694944"/>
          </a:xfrm>
          <a:prstGeom prst="roundRect">
            <a:avLst>
              <a:gd name="adj" fmla="val 7895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75952" y="4443984"/>
            <a:ext cx="1662928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pPr algn="l" indent="0" marL="0">
              <a:buNone/>
            </a:pPr>
            <a:r>
              <a:rPr lang="en-US" sz="115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类</a:t>
            </a:r>
            <a:endParaRPr lang="en-US" sz="2700" dirty="0"/>
          </a:p>
        </p:txBody>
      </p:sp>
      <p:sp>
        <p:nvSpPr>
          <p:cNvPr id="55" name="Text 53"/>
          <p:cNvSpPr/>
          <p:nvPr/>
        </p:nvSpPr>
        <p:spPr>
          <a:xfrm>
            <a:off x="7475952" y="4855464"/>
            <a:ext cx="1662928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操作留痕类型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504639" y="4370832"/>
            <a:ext cx="2028688" cy="694944"/>
          </a:xfrm>
          <a:prstGeom prst="roundRect">
            <a:avLst>
              <a:gd name="adj" fmla="val 7895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87519" y="4443984"/>
            <a:ext cx="1662928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pPr algn="l" indent="0" marL="0">
              <a:buNone/>
            </a:pPr>
            <a:r>
              <a:rPr lang="en-US" sz="115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项</a:t>
            </a:r>
            <a:endParaRPr lang="en-US" sz="2700" dirty="0"/>
          </a:p>
        </p:txBody>
      </p:sp>
      <p:sp>
        <p:nvSpPr>
          <p:cNvPr id="58" name="Text 56"/>
          <p:cNvSpPr/>
          <p:nvPr/>
        </p:nvSpPr>
        <p:spPr>
          <a:xfrm>
            <a:off x="9687519" y="4855464"/>
            <a:ext cx="1662928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网络与后端依赖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58368" y="5175504"/>
            <a:ext cx="10874959" cy="841248"/>
          </a:xfrm>
          <a:prstGeom prst="roundRect">
            <a:avLst>
              <a:gd name="adj" fmla="val 6522"/>
            </a:avLst>
          </a:prstGeom>
          <a:solidFill>
            <a:srgbClr val="EDF4FB"/>
          </a:solidFill>
          <a:ln w="12700">
            <a:solidFill>
              <a:srgbClr val="C7DCE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96112" y="5266944"/>
            <a:ext cx="914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技术栈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737360" y="5266944"/>
            <a:ext cx="9503359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React 19 · Ant Design 6 · ECharts 6 · Dexie / IndexedDB · Electron 39 · Vite 8 + TypeScript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896112" y="5596128"/>
            <a:ext cx="914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交付形态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1737360" y="5596128"/>
            <a:ext cx="9503359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Windows 安装版（NSIS，可选安装目录）＋ 绿色便携版（免安装，数据随包迁移，适配内网与移动办公）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/ 系统流程设计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10874959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系统流程设计图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060704"/>
            <a:ext cx="10874959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从数据采集到台账产出：五阶段贯通，数据全程本地闭环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58368" y="1444752"/>
            <a:ext cx="10874959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345936"/>
            <a:ext cx="6400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广东省气象服务中心 · 科技项目课题答辩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618927" y="6345936"/>
            <a:ext cx="914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8368" y="1847088"/>
            <a:ext cx="2014057" cy="2084832"/>
          </a:xfrm>
          <a:prstGeom prst="roundRect">
            <a:avLst>
              <a:gd name="adj" fmla="val 2724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" y="1847088"/>
            <a:ext cx="1995769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883664"/>
            <a:ext cx="3840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170432" y="1883664"/>
            <a:ext cx="1355689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数据采集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41248" y="2446020"/>
            <a:ext cx="41148" cy="41148"/>
          </a:xfrm>
          <a:prstGeom prst="rect">
            <a:avLst/>
          </a:prstGeom>
          <a:solidFill>
            <a:srgbClr val="F0C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2377440"/>
            <a:ext cx="15934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会议记录录入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41248" y="2647188"/>
            <a:ext cx="41148" cy="41148"/>
          </a:xfrm>
          <a:prstGeom prst="rect">
            <a:avLst/>
          </a:prstGeom>
          <a:solidFill>
            <a:srgbClr val="F0C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2578608"/>
            <a:ext cx="15934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人员档案与状态时间线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41248" y="2848356"/>
            <a:ext cx="41148" cy="41148"/>
          </a:xfrm>
          <a:prstGeom prst="rect">
            <a:avLst/>
          </a:prstGeom>
          <a:solidFill>
            <a:srgbClr val="F0C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2779776"/>
            <a:ext cx="15934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谈心谈话记录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41248" y="3049524"/>
            <a:ext cx="41148" cy="41148"/>
          </a:xfrm>
          <a:prstGeom prst="rect">
            <a:avLst/>
          </a:prstGeom>
          <a:solidFill>
            <a:srgbClr val="F0C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" y="2980944"/>
            <a:ext cx="15934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组长填报 Excel 导入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 rot="5400000">
            <a:off x="2704429" y="2830068"/>
            <a:ext cx="146304" cy="105339"/>
          </a:xfrm>
          <a:prstGeom prst="triangle">
            <a:avLst/>
          </a:prstGeom>
          <a:solidFill>
            <a:srgbClr val="CFD4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3593" y="1847088"/>
            <a:ext cx="2014057" cy="2084832"/>
          </a:xfrm>
          <a:prstGeom prst="roundRect">
            <a:avLst>
              <a:gd name="adj" fmla="val 2724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82737" y="1847088"/>
            <a:ext cx="1995769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9897" y="1883664"/>
            <a:ext cx="3840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385657" y="1883664"/>
            <a:ext cx="1355689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快照固化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056473" y="2446020"/>
            <a:ext cx="41148" cy="41148"/>
          </a:xfrm>
          <a:prstGeom prst="rect">
            <a:avLst/>
          </a:prstGeom>
          <a:solidFill>
            <a:srgbClr val="F0C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66201" y="2377440"/>
            <a:ext cx="15934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部门 / 部室 / 党小组快照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056473" y="2647188"/>
            <a:ext cx="41148" cy="41148"/>
          </a:xfrm>
          <a:prstGeom prst="rect">
            <a:avLst/>
          </a:prstGeom>
          <a:solidFill>
            <a:srgbClr val="F0C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66201" y="2578608"/>
            <a:ext cx="15934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保存即固化，不改写历史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056473" y="2848356"/>
            <a:ext cx="41148" cy="41148"/>
          </a:xfrm>
          <a:prstGeom prst="rect">
            <a:avLst/>
          </a:prstGeom>
          <a:solidFill>
            <a:srgbClr val="F0C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66201" y="2779776"/>
            <a:ext cx="15934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旧数据无快照回退当前值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 rot="5400000">
            <a:off x="4919655" y="2830068"/>
            <a:ext cx="146304" cy="105339"/>
          </a:xfrm>
          <a:prstGeom prst="triangle">
            <a:avLst/>
          </a:prstGeom>
          <a:solidFill>
            <a:srgbClr val="CFD4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88819" y="1847088"/>
            <a:ext cx="2014057" cy="2084832"/>
          </a:xfrm>
          <a:prstGeom prst="roundRect">
            <a:avLst>
              <a:gd name="adj" fmla="val 2724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97963" y="1847088"/>
            <a:ext cx="1995769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35123" y="1883664"/>
            <a:ext cx="3840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600883" y="1883664"/>
            <a:ext cx="1355689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口径计算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271699" y="2446020"/>
            <a:ext cx="41148" cy="41148"/>
          </a:xfrm>
          <a:prstGeom prst="rect">
            <a:avLst/>
          </a:prstGeom>
          <a:solidFill>
            <a:srgbClr val="F0C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81427" y="2377440"/>
            <a:ext cx="15934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时间线在职判定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271699" y="2647188"/>
            <a:ext cx="41148" cy="41148"/>
          </a:xfrm>
          <a:prstGeom prst="rect">
            <a:avLst/>
          </a:prstGeom>
          <a:solidFill>
            <a:srgbClr val="F0C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81427" y="2578608"/>
            <a:ext cx="15934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在职出勤与出勤率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271699" y="2848356"/>
            <a:ext cx="41148" cy="41148"/>
          </a:xfrm>
          <a:prstGeom prst="rect">
            <a:avLst/>
          </a:prstGeom>
          <a:solidFill>
            <a:srgbClr val="F0C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81427" y="2779776"/>
            <a:ext cx="15934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在职党员年度时点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71699" y="3049524"/>
            <a:ext cx="41148" cy="41148"/>
          </a:xfrm>
          <a:prstGeom prst="rect">
            <a:avLst/>
          </a:prstGeom>
          <a:solidFill>
            <a:srgbClr val="F0C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81427" y="2980944"/>
            <a:ext cx="15934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多维度出勤对比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 rot="5400000">
            <a:off x="7134880" y="2830068"/>
            <a:ext cx="146304" cy="105339"/>
          </a:xfrm>
          <a:prstGeom prst="triangle">
            <a:avLst/>
          </a:prstGeom>
          <a:solidFill>
            <a:srgbClr val="CFD4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04044" y="1847088"/>
            <a:ext cx="2014057" cy="2084832"/>
          </a:xfrm>
          <a:prstGeom prst="roundRect">
            <a:avLst>
              <a:gd name="adj" fmla="val 2724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13188" y="1847088"/>
            <a:ext cx="1995769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50348" y="1883664"/>
            <a:ext cx="3840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7816108" y="1883664"/>
            <a:ext cx="1355689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应用呈现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7486924" y="2446020"/>
            <a:ext cx="41148" cy="41148"/>
          </a:xfrm>
          <a:prstGeom prst="rect">
            <a:avLst/>
          </a:prstGeom>
          <a:solidFill>
            <a:srgbClr val="F0C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96652" y="2377440"/>
            <a:ext cx="15934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看板 4 卡 5 图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486924" y="2647188"/>
            <a:ext cx="41148" cy="41148"/>
          </a:xfrm>
          <a:prstGeom prst="rect">
            <a:avLst/>
          </a:prstGeom>
          <a:solidFill>
            <a:srgbClr val="F0C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96652" y="2578608"/>
            <a:ext cx="15934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组织架构四层树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486924" y="2848356"/>
            <a:ext cx="41148" cy="41148"/>
          </a:xfrm>
          <a:prstGeom prst="rect">
            <a:avLst/>
          </a:prstGeom>
          <a:solidFill>
            <a:srgbClr val="F0C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96652" y="2779776"/>
            <a:ext cx="15934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会议列表出勤列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486924" y="3049524"/>
            <a:ext cx="41148" cy="41148"/>
          </a:xfrm>
          <a:prstGeom prst="rect">
            <a:avLst/>
          </a:prstGeom>
          <a:solidFill>
            <a:srgbClr val="F0C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596652" y="2980944"/>
            <a:ext cx="15934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年份切换与空态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 rot="5400000">
            <a:off x="9350106" y="2830068"/>
            <a:ext cx="146304" cy="105339"/>
          </a:xfrm>
          <a:prstGeom prst="triangle">
            <a:avLst/>
          </a:prstGeom>
          <a:solidFill>
            <a:srgbClr val="CFD4D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519270" y="1847088"/>
            <a:ext cx="2014057" cy="2084832"/>
          </a:xfrm>
          <a:prstGeom prst="roundRect">
            <a:avLst>
              <a:gd name="adj" fmla="val 2724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528414" y="1847088"/>
            <a:ext cx="1995769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665574" y="1883664"/>
            <a:ext cx="3840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10031334" y="1883664"/>
            <a:ext cx="1355689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台账产出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9702150" y="2446020"/>
            <a:ext cx="41148" cy="41148"/>
          </a:xfrm>
          <a:prstGeom prst="rect">
            <a:avLst/>
          </a:prstGeom>
          <a:solidFill>
            <a:srgbClr val="F0C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811878" y="2377440"/>
            <a:ext cx="15934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会议工作台账 .xlsx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9702150" y="2647188"/>
            <a:ext cx="41148" cy="41148"/>
          </a:xfrm>
          <a:prstGeom prst="rect">
            <a:avLst/>
          </a:prstGeom>
          <a:solidFill>
            <a:srgbClr val="F0C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811878" y="2578608"/>
            <a:ext cx="15934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看板报告 .docx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702150" y="2848356"/>
            <a:ext cx="41148" cy="41148"/>
          </a:xfrm>
          <a:prstGeom prst="rect">
            <a:avLst/>
          </a:prstGeom>
          <a:solidFill>
            <a:srgbClr val="F0C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811878" y="2779776"/>
            <a:ext cx="15934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谈心谈话台账 .xlsx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9702150" y="3049524"/>
            <a:ext cx="41148" cy="41148"/>
          </a:xfrm>
          <a:prstGeom prst="rect">
            <a:avLst/>
          </a:prstGeom>
          <a:solidFill>
            <a:srgbClr val="F0C9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811878" y="2980944"/>
            <a:ext cx="159343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整库备份与恢复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58368" y="4096512"/>
            <a:ext cx="10874959" cy="1170432"/>
          </a:xfrm>
          <a:prstGeom prst="roundRect">
            <a:avLst>
              <a:gd name="adj" fmla="val 4688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96112" y="4206240"/>
            <a:ext cx="20116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运维保障闭环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896112" y="4535424"/>
            <a:ext cx="14630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4D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50976" y="4535424"/>
            <a:ext cx="1353312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定时自动备份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 rot="5400000">
            <a:off x="2395728" y="4663440"/>
            <a:ext cx="118872" cy="85588"/>
          </a:xfrm>
          <a:prstGeom prst="triangle">
            <a:avLst/>
          </a:prstGeom>
          <a:solidFill>
            <a:srgbClr val="6B71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596896" y="4535424"/>
            <a:ext cx="21031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4D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651760" y="4535424"/>
            <a:ext cx="1993392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本地文件（JSON / Excel）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 rot="5400000">
            <a:off x="4736592" y="4663440"/>
            <a:ext cx="118872" cy="85588"/>
          </a:xfrm>
          <a:prstGeom prst="triangle">
            <a:avLst/>
          </a:prstGeom>
          <a:solidFill>
            <a:srgbClr val="6B71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937760" y="4535424"/>
            <a:ext cx="30175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FD4D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992624" y="4535424"/>
            <a:ext cx="2907792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数据融合（手动 / 组长导入 / 定时扫描）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896112" y="4919472"/>
            <a:ext cx="73152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按份数滚动清理 · 先写临时文件再原子改名 · 单实例锁防并发损坏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8906256" y="4315968"/>
            <a:ext cx="0" cy="786384"/>
          </a:xfrm>
          <a:prstGeom prst="line">
            <a:avLst/>
          </a:prstGeom>
          <a:noFill/>
          <a:ln w="12700">
            <a:solidFill>
              <a:srgbClr val="CFD4D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144000" y="4224528"/>
            <a:ext cx="283464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全链路操作留痕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9144000" y="449884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 类操作全部记入操作日志（录入 / 修改 / 删除 / 备份 / 恢复 / 融合等），可按类型与日期筛选审计。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658368" y="5440680"/>
            <a:ext cx="10874959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一次录入 → 快照固化 → 统一口径 → 可视化呈现 → 规范台账；数据全程本地闭环，无需人工汇总。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/ 系统架构设计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10874959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系统架构图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060704"/>
            <a:ext cx="10874959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五层分层架构：桌面外壳、交互、展示与计算、数据、输出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58368" y="1444752"/>
            <a:ext cx="10874959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345936"/>
            <a:ext cx="6400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广东省气象服务中心 · 科技项目课题答辩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618927" y="6345936"/>
            <a:ext cx="914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8368" y="1755648"/>
            <a:ext cx="10874959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" y="1773936"/>
            <a:ext cx="45720" cy="676656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828800"/>
            <a:ext cx="2240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交付层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59536" y="21031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Electron 39 桌面外壳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37560" y="1938528"/>
            <a:ext cx="1898066" cy="347472"/>
          </a:xfrm>
          <a:prstGeom prst="roundRect">
            <a:avLst>
              <a:gd name="adj" fmla="val 13158"/>
            </a:avLst>
          </a:prstGeom>
          <a:solidFill>
            <a:srgbClr val="EDF4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92424" y="1938528"/>
            <a:ext cx="178833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单实例锁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81930" y="1938528"/>
            <a:ext cx="1898066" cy="347472"/>
          </a:xfrm>
          <a:prstGeom prst="roundRect">
            <a:avLst>
              <a:gd name="adj" fmla="val 13158"/>
            </a:avLst>
          </a:prstGeom>
          <a:solidFill>
            <a:srgbClr val="EDF4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36794" y="1938528"/>
            <a:ext cx="178833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绿色便携（数据随包）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426300" y="1938528"/>
            <a:ext cx="1898066" cy="347472"/>
          </a:xfrm>
          <a:prstGeom prst="roundRect">
            <a:avLst>
              <a:gd name="adj" fmla="val 13158"/>
            </a:avLst>
          </a:prstGeom>
          <a:solidFill>
            <a:srgbClr val="EDF4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81164" y="1938528"/>
            <a:ext cx="178833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窗口管理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470669" y="1938528"/>
            <a:ext cx="1898066" cy="347472"/>
          </a:xfrm>
          <a:prstGeom prst="roundRect">
            <a:avLst>
              <a:gd name="adj" fmla="val 13158"/>
            </a:avLst>
          </a:prstGeom>
          <a:solidFill>
            <a:srgbClr val="EDF4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25533" y="1938528"/>
            <a:ext cx="178833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个文件 IPC 通道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58368" y="2560320"/>
            <a:ext cx="10874959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7512" y="2578608"/>
            <a:ext cx="45720" cy="676656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" y="2633472"/>
            <a:ext cx="2240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交互层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59536" y="29077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React 19 + Ant Design 6 + Router 7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37560" y="2743200"/>
            <a:ext cx="1898066" cy="347472"/>
          </a:xfrm>
          <a:prstGeom prst="roundRect">
            <a:avLst>
              <a:gd name="adj" fmla="val 13158"/>
            </a:avLst>
          </a:prstGeom>
          <a:solidFill>
            <a:srgbClr val="EDF4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92424" y="2743200"/>
            <a:ext cx="178833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大功能页面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81930" y="2743200"/>
            <a:ext cx="1898066" cy="347472"/>
          </a:xfrm>
          <a:prstGeom prst="roundRect">
            <a:avLst>
              <a:gd name="adj" fmla="val 13158"/>
            </a:avLst>
          </a:prstGeom>
          <a:solidFill>
            <a:srgbClr val="EDF4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36794" y="2743200"/>
            <a:ext cx="178833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表单与校验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426300" y="2743200"/>
            <a:ext cx="1898066" cy="347472"/>
          </a:xfrm>
          <a:prstGeom prst="roundRect">
            <a:avLst>
              <a:gd name="adj" fmla="val 13158"/>
            </a:avLst>
          </a:prstGeom>
          <a:solidFill>
            <a:srgbClr val="EDF4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81164" y="2743200"/>
            <a:ext cx="178833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错误边界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470669" y="2743200"/>
            <a:ext cx="1898066" cy="347472"/>
          </a:xfrm>
          <a:prstGeom prst="roundRect">
            <a:avLst>
              <a:gd name="adj" fmla="val 13158"/>
            </a:avLst>
          </a:prstGeom>
          <a:solidFill>
            <a:srgbClr val="EDF4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25533" y="2743200"/>
            <a:ext cx="178833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中文主题 · 党建红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58368" y="3364992"/>
            <a:ext cx="10874959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7512" y="3383280"/>
            <a:ext cx="45720" cy="676656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9536" y="3438144"/>
            <a:ext cx="2240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展示与计算层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59536" y="371246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ECharts 6 + 业务纯函数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337560" y="3547872"/>
            <a:ext cx="1898066" cy="347472"/>
          </a:xfrm>
          <a:prstGeom prst="roundRect">
            <a:avLst>
              <a:gd name="adj" fmla="val 13158"/>
            </a:avLst>
          </a:prstGeom>
          <a:solidFill>
            <a:srgbClr val="EDF4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92424" y="3547872"/>
            <a:ext cx="178833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看板图表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381930" y="3547872"/>
            <a:ext cx="1898066" cy="347472"/>
          </a:xfrm>
          <a:prstGeom prst="roundRect">
            <a:avLst>
              <a:gd name="adj" fmla="val 13158"/>
            </a:avLst>
          </a:prstGeom>
          <a:solidFill>
            <a:srgbClr val="EDF4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36794" y="3547872"/>
            <a:ext cx="178833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时间线在职口径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426300" y="3547872"/>
            <a:ext cx="1898066" cy="347472"/>
          </a:xfrm>
          <a:prstGeom prst="roundRect">
            <a:avLst>
              <a:gd name="adj" fmla="val 13158"/>
            </a:avLst>
          </a:prstGeom>
          <a:solidFill>
            <a:srgbClr val="EDF4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81164" y="3547872"/>
            <a:ext cx="178833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出勤多维对比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470669" y="3547872"/>
            <a:ext cx="1898066" cy="347472"/>
          </a:xfrm>
          <a:prstGeom prst="roundRect">
            <a:avLst>
              <a:gd name="adj" fmla="val 13158"/>
            </a:avLst>
          </a:prstGeom>
          <a:solidFill>
            <a:srgbClr val="EDF4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525533" y="3547872"/>
            <a:ext cx="178833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组织架构构建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58368" y="4169664"/>
            <a:ext cx="10874959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7512" y="4187952"/>
            <a:ext cx="45720" cy="676656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9536" y="4242816"/>
            <a:ext cx="2240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数据层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859536" y="451713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Dexie 4 → IndexedDB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337560" y="4352544"/>
            <a:ext cx="1898066" cy="347472"/>
          </a:xfrm>
          <a:prstGeom prst="roundRect">
            <a:avLst>
              <a:gd name="adj" fmla="val 13158"/>
            </a:avLst>
          </a:prstGeom>
          <a:solidFill>
            <a:srgbClr val="EDF4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92424" y="4352544"/>
            <a:ext cx="178833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PartyBuildingLedger 单库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381930" y="4352544"/>
            <a:ext cx="1898066" cy="347472"/>
          </a:xfrm>
          <a:prstGeom prst="roundRect">
            <a:avLst>
              <a:gd name="adj" fmla="val 13158"/>
            </a:avLst>
          </a:prstGeom>
          <a:solidFill>
            <a:srgbClr val="EDF4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36794" y="4352544"/>
            <a:ext cx="178833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张数据表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426300" y="4352544"/>
            <a:ext cx="1898066" cy="347472"/>
          </a:xfrm>
          <a:prstGeom prst="roundRect">
            <a:avLst>
              <a:gd name="adj" fmla="val 13158"/>
            </a:avLst>
          </a:prstGeom>
          <a:solidFill>
            <a:srgbClr val="EDF4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81164" y="4352544"/>
            <a:ext cx="178833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Schema V3 自动迁移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470669" y="4352544"/>
            <a:ext cx="1898066" cy="347472"/>
          </a:xfrm>
          <a:prstGeom prst="roundRect">
            <a:avLst>
              <a:gd name="adj" fmla="val 13158"/>
            </a:avLst>
          </a:prstGeom>
          <a:solidFill>
            <a:srgbClr val="EDF4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525533" y="4352544"/>
            <a:ext cx="178833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本地持久化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58368" y="4974336"/>
            <a:ext cx="10874959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67512" y="4992624"/>
            <a:ext cx="45720" cy="676656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59536" y="5047488"/>
            <a:ext cx="224028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输出层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859536" y="53218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docx + xlsx-js-style + exceljs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337560" y="5157216"/>
            <a:ext cx="1898066" cy="347472"/>
          </a:xfrm>
          <a:prstGeom prst="roundRect">
            <a:avLst>
              <a:gd name="adj" fmla="val 13158"/>
            </a:avLst>
          </a:prstGeom>
          <a:solidFill>
            <a:srgbClr val="EDF4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92424" y="5157216"/>
            <a:ext cx="178833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会议工作台账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5381930" y="5157216"/>
            <a:ext cx="1898066" cy="347472"/>
          </a:xfrm>
          <a:prstGeom prst="roundRect">
            <a:avLst>
              <a:gd name="adj" fmla="val 13158"/>
            </a:avLst>
          </a:prstGeom>
          <a:solidFill>
            <a:srgbClr val="EDF4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36794" y="5157216"/>
            <a:ext cx="178833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看板报告 .docx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7426300" y="5157216"/>
            <a:ext cx="1898066" cy="347472"/>
          </a:xfrm>
          <a:prstGeom prst="roundRect">
            <a:avLst>
              <a:gd name="adj" fmla="val 13158"/>
            </a:avLst>
          </a:prstGeom>
          <a:solidFill>
            <a:srgbClr val="EDF4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481164" y="5157216"/>
            <a:ext cx="178833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谈心谈话台账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9470669" y="5157216"/>
            <a:ext cx="1898066" cy="347472"/>
          </a:xfrm>
          <a:prstGeom prst="roundRect">
            <a:avLst>
              <a:gd name="adj" fmla="val 13158"/>
            </a:avLst>
          </a:prstGeom>
          <a:solidFill>
            <a:srgbClr val="EDF4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525533" y="5157216"/>
            <a:ext cx="178833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备份与恢复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658368" y="5724144"/>
            <a:ext cx="10874959" cy="365760"/>
          </a:xfrm>
          <a:prstGeom prst="roundRect">
            <a:avLst>
              <a:gd name="adj" fmla="val 15000"/>
            </a:avLst>
          </a:prstGeom>
          <a:solidFill>
            <a:srgbClr val="FFF4F2"/>
          </a:solidFill>
          <a:ln w="12700">
            <a:solidFill>
              <a:srgbClr val="F0C9C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77824" y="5724144"/>
            <a:ext cx="104360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架构特征：完全离线 · 无独立后端服务 · 无任何网络请求；主进程仅承担窗口管理与受限文件访问，业务计算全部在渲染进程内以纯函数完成。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/ 核心优势 ①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10874959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完全离线 · 数据自主可控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060704"/>
            <a:ext cx="10874959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党务数据不出本机：本地存储、本地计算、本地导出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58368" y="1444752"/>
            <a:ext cx="10874959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345936"/>
            <a:ext cx="6400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广东省气象服务中心 · 科技项目课题答辩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618927" y="6345936"/>
            <a:ext cx="914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8368" y="1737360"/>
            <a:ext cx="10874959" cy="548640"/>
          </a:xfrm>
          <a:prstGeom prst="roundRect">
            <a:avLst>
              <a:gd name="adj" fmla="val 10000"/>
            </a:avLst>
          </a:prstGeom>
          <a:solidFill>
            <a:srgbClr val="FFF4F2"/>
          </a:solidFill>
          <a:ln w="12700">
            <a:solidFill>
              <a:srgbClr val="F0C9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" y="1755648"/>
            <a:ext cx="45720" cy="512064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1737360"/>
            <a:ext cx="104177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零网络依赖：应用在前端资源本地加载、数据落本地库、导入导出与融合均通过本机文件系统完成，可在内网与完全离线环境下独立运行。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2432304"/>
            <a:ext cx="5346040" cy="1545336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2596896"/>
            <a:ext cx="490712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▍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数据本地持久化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7824" y="2944368"/>
            <a:ext cx="49071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数据统一落 IndexedDB 单库 PartyBuildingLedger（4 张表 / Schema V3）；绿色版将数据目录与主程序置于同一层级，整包拷贝即可迁移，U 盘带走即可继续办公。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87288" y="2432304"/>
            <a:ext cx="5346040" cy="1545336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6744" y="2596896"/>
            <a:ext cx="490712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▍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零网络与零后端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6744" y="2944368"/>
            <a:ext cx="49071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应用资源本地加载，源码中不含任何网络请求；主进程仅暴露 5 个文件相关通道，无 HTTP 服务、无端口监听，从架构上排除数据外发路径。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8368" y="4123944"/>
            <a:ext cx="5346040" cy="1545336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4288536"/>
            <a:ext cx="490712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▍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安全合规可控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7824" y="4636008"/>
            <a:ext cx="49071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敏感党务数据不出本机，规避公有云部署的合规与运维风险；导出与备份均由使用者在本机发起，操作行为全部留痕、可回溯审计。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87288" y="4123944"/>
            <a:ext cx="5346040" cy="1545336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6744" y="4288536"/>
            <a:ext cx="490712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▍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稳定与容错双保险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6744" y="4636008"/>
            <a:ext cx="49071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单实例锁避免多实例并发读写损坏数据库；定时整库自动备份并按份数滚动清理；写盘采用"先临时文件、再原子改名"，避免半损文件。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8368" y="5870448"/>
            <a:ext cx="10874959" cy="274320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5870448"/>
            <a:ext cx="10436047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交付形态：Windows 安装版（NSIS，支持自选安装目录与快捷方式）｜绿色便携版（免安装，数据随包，适配内网与移动办公）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/ 核心优势 ②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10874959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可视化决策辅助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060704"/>
            <a:ext cx="10874959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一屏掌握全局：4 张指标卡 + 5 张图表，图表口径透明可核验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58368" y="1444752"/>
            <a:ext cx="10874959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345936"/>
            <a:ext cx="6400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广东省气象服务中心 · 科技项目课题答辩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618927" y="6345936"/>
            <a:ext cx="914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8368" y="1755648"/>
            <a:ext cx="2595296" cy="9144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847088"/>
            <a:ext cx="222953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指标卡 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41248" y="2048256"/>
            <a:ext cx="222953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会议总数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2322576"/>
            <a:ext cx="222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套会按关联党小组数拆开计次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418256" y="1755648"/>
            <a:ext cx="2595296" cy="9144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01136" y="1847088"/>
            <a:ext cx="222953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指标卡 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01136" y="2048256"/>
            <a:ext cx="222953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平均出勤率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01136" y="2322576"/>
            <a:ext cx="222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时间线在职口径计算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78144" y="1755648"/>
            <a:ext cx="2595296" cy="9144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1024" y="1847088"/>
            <a:ext cx="222953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指标卡 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361024" y="2048256"/>
            <a:ext cx="222953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在职党员总数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61024" y="2322576"/>
            <a:ext cx="222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年度时点口径（历史年取年末）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938031" y="1755648"/>
            <a:ext cx="2595296" cy="9144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20911" y="1847088"/>
            <a:ext cx="2229536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指标卡 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9120911" y="2048256"/>
            <a:ext cx="222953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本月会议数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20911" y="2322576"/>
            <a:ext cx="222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按当前月份实时汇总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58368" y="2798064"/>
            <a:ext cx="10874959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2907792"/>
            <a:ext cx="36576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▍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五张可视化图表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96112" y="3273552"/>
            <a:ext cx="30632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会议类型分布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041648" y="3300984"/>
            <a:ext cx="1234440" cy="237744"/>
          </a:xfrm>
          <a:prstGeom prst="roundRect">
            <a:avLst>
              <a:gd name="adj" fmla="val 19231"/>
            </a:avLst>
          </a:prstGeom>
          <a:solidFill>
            <a:srgbClr val="EDF4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96512" y="3300984"/>
            <a:ext cx="1124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饼图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431536" y="3273552"/>
            <a:ext cx="5864047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按类型计次展开，含套会拆分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96112" y="3566160"/>
            <a:ext cx="10399471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6112" y="3621024"/>
            <a:ext cx="30632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月度会议趋势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041648" y="3648456"/>
            <a:ext cx="1234440" cy="237744"/>
          </a:xfrm>
          <a:prstGeom prst="roundRect">
            <a:avLst>
              <a:gd name="adj" fmla="val 19231"/>
            </a:avLst>
          </a:prstGeom>
          <a:solidFill>
            <a:srgbClr val="EDF4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96512" y="3648456"/>
            <a:ext cx="1124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堆叠柱状图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431536" y="3621024"/>
            <a:ext cx="5864047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按月份归组，跨年区间逐月生成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96112" y="3913632"/>
            <a:ext cx="10399471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6112" y="3968496"/>
            <a:ext cx="30632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党员出勤率排行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041648" y="3995928"/>
            <a:ext cx="1234440" cy="237744"/>
          </a:xfrm>
          <a:prstGeom prst="roundRect">
            <a:avLst>
              <a:gd name="adj" fmla="val 19231"/>
            </a:avLst>
          </a:prstGeom>
          <a:solidFill>
            <a:srgbClr val="EDF4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96512" y="3995928"/>
            <a:ext cx="1124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横向条形图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431536" y="3968496"/>
            <a:ext cx="5864047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红黄绿分级，仅统计当前在职人员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96112" y="4261104"/>
            <a:ext cx="10399471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6112" y="4315968"/>
            <a:ext cx="30632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出勤对比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041648" y="4343400"/>
            <a:ext cx="1234440" cy="237744"/>
          </a:xfrm>
          <a:prstGeom prst="roundRect">
            <a:avLst>
              <a:gd name="adj" fmla="val 19231"/>
            </a:avLst>
          </a:prstGeom>
          <a:solidFill>
            <a:srgbClr val="EDF4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96512" y="4343400"/>
            <a:ext cx="1124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分组条形图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431536" y="4315968"/>
            <a:ext cx="5864047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党小组 / 部室 / 部门支部三维一键切换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96112" y="4608576"/>
            <a:ext cx="10399471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6112" y="4663440"/>
            <a:ext cx="3063240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⑤ 月度谈心谈话趋势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041648" y="4690872"/>
            <a:ext cx="1234440" cy="237744"/>
          </a:xfrm>
          <a:prstGeom prst="roundRect">
            <a:avLst>
              <a:gd name="adj" fmla="val 19231"/>
            </a:avLst>
          </a:prstGeom>
          <a:solidFill>
            <a:srgbClr val="EDF4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96512" y="4690872"/>
            <a:ext cx="112471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堆叠柱 + 折线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431536" y="4663440"/>
            <a:ext cx="5864047" cy="2926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个别 / 集体 / 组织约谈 + 合计趋势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58368" y="5193792"/>
            <a:ext cx="10874959" cy="777240"/>
          </a:xfrm>
          <a:prstGeom prst="roundRect">
            <a:avLst>
              <a:gd name="adj" fmla="val 7059"/>
            </a:avLst>
          </a:prstGeom>
          <a:solidFill>
            <a:srgbClr val="EDF4FB"/>
          </a:solidFill>
          <a:ln w="12700">
            <a:solidFill>
              <a:srgbClr val="C7DC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6112" y="5285232"/>
            <a:ext cx="3283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一屏总览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96112" y="5522976"/>
            <a:ext cx="32836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类型结构、时间趋势、个人排行、多维对比、谈话趋势集中呈现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454042" y="5285232"/>
            <a:ext cx="3283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口径透明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454042" y="5522976"/>
            <a:ext cx="32836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关键指标与图表均标注统计口径，结论可核验、可复算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011973" y="5285232"/>
            <a:ext cx="32836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按年切换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8011973" y="5522976"/>
            <a:ext cx="328361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支持前后五年及数据年份切换，年度无数据时等高占位提示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/ 核心优势 ③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10874959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统计严谨 · 台账规范导出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060704"/>
            <a:ext cx="10874959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口径集中于纯函数，跨模块同源；导出即规范台账，无需二次整理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58368" y="1444752"/>
            <a:ext cx="10874959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345936"/>
            <a:ext cx="6400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广东省气象服务中心 · 科技项目课题答辩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618927" y="6345936"/>
            <a:ext cx="914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8368" y="1737360"/>
            <a:ext cx="10874959" cy="512064"/>
          </a:xfrm>
          <a:prstGeom prst="roundRect">
            <a:avLst>
              <a:gd name="adj" fmla="val 10714"/>
            </a:avLst>
          </a:prstGeom>
          <a:solidFill>
            <a:srgbClr val="FFF4F2"/>
          </a:solidFill>
          <a:ln w="12700">
            <a:solidFill>
              <a:srgbClr val="F0C9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" y="1755648"/>
            <a:ext cx="45720" cy="475488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1737360"/>
            <a:ext cx="1041775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全部口径由纯函数集中承载：会议总数、月度合计、类型合计三项自洽；历史统计优先读取保存时点快照，人员后续调动不影响既往数据。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58368" y="2359152"/>
            <a:ext cx="4846320" cy="3346704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2487168"/>
            <a:ext cx="438912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▍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统计口径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6112" y="2871216"/>
            <a:ext cx="4389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会议总数三项自洽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42416" y="3063240"/>
            <a:ext cx="42428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总数 = 各类型计次之和 = 月度之和；套会按关联党小组数拆开计次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96112" y="3298317"/>
            <a:ext cx="4389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出勤率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42416" y="3490341"/>
            <a:ext cx="42428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在职出席 / 在职应到；列席计入出席，临时人员不计入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96112" y="3725418"/>
            <a:ext cx="4389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在职党员总数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42416" y="3917442"/>
            <a:ext cx="42428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按年度时点统计：历史年份取当年 12-31，当前年份取当日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96112" y="4152519"/>
            <a:ext cx="4389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多维度出勤对比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42416" y="4344543"/>
            <a:ext cx="42428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党小组 / 部室 / 部门支部三维切换，快照优先、空值不计入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896112" y="4579620"/>
            <a:ext cx="4389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谈心谈话统计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42416" y="4771644"/>
            <a:ext cx="42428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按月（个别 / 集体 / 组织约谈）与 6 类谈话类型分别统计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779008" y="2359152"/>
            <a:ext cx="5754319" cy="3346704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16752" y="2487168"/>
            <a:ext cx="5297119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▍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台账导出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16752" y="2889504"/>
            <a:ext cx="5278831" cy="493776"/>
          </a:xfrm>
          <a:prstGeom prst="rect">
            <a:avLst/>
          </a:prstGeom>
          <a:solidFill>
            <a:srgbClr val="F6F7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9904" y="2889504"/>
            <a:ext cx="17647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会议工作台账 .xlsx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91272" y="2889504"/>
            <a:ext cx="331287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列明细 + 分类子表（支委会 / 党员大会 / 各党小组会 / 党课 / 组织生活会 / 民主生活会 / 主题党日）+ 参会考勤统计 + 月度汇总 + 类型统计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16752" y="3383280"/>
            <a:ext cx="5278831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9904" y="3383280"/>
            <a:ext cx="17647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看板报告 .docx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891272" y="3383280"/>
            <a:ext cx="331287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年度概览 / 会议类型分布 / 月度会议统计 / 出勤率排行榜 / 会议记录明细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016752" y="3877056"/>
            <a:ext cx="5278831" cy="347472"/>
          </a:xfrm>
          <a:prstGeom prst="rect">
            <a:avLst/>
          </a:prstGeom>
          <a:solidFill>
            <a:srgbClr val="F6F7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9904" y="3877056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谈心谈话台账 .xlsx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891272" y="3877056"/>
            <a:ext cx="33128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明细（13 列）+ 按月统计（含组织约谈）+ 谈话类型统计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016752" y="4224528"/>
            <a:ext cx="5278831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89904" y="4224528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数据备份 .json / .xlsx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891272" y="4224528"/>
            <a:ext cx="33128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整库 JSON 备份；Excel 内嵌隐藏表，可按份数滚动与无损还原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016752" y="4572000"/>
            <a:ext cx="5278831" cy="347472"/>
          </a:xfrm>
          <a:prstGeom prst="rect">
            <a:avLst/>
          </a:prstGeom>
          <a:solidFill>
            <a:srgbClr val="F6F7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89904" y="4572000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组长填报模板 .xlsx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891272" y="4572000"/>
            <a:ext cx="331287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列台账字段 + 填写说明 + 示例行，统一基层填报口径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58368" y="5779008"/>
            <a:ext cx="10874959" cy="310896"/>
          </a:xfrm>
          <a:prstGeom prst="roundRect">
            <a:avLst>
              <a:gd name="adj" fmla="val 17647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7824" y="5779008"/>
            <a:ext cx="10436047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统一党建红模板：大标题红底白字、表头红底加粗、数据行奇偶交替底色、合计行红字加粗；出勤率按 90% / 70% 分级着色。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/ 核心优势 ④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10874959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人员时间线 · 顺应机构改革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060704"/>
            <a:ext cx="10874959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为每位人员保留状态变更时间线，任一历史日期都能回溯真实在职状态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58368" y="1444752"/>
            <a:ext cx="10874959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345936"/>
            <a:ext cx="6400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广东省气象服务中心 · 科技项目课题答辩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618927" y="6345936"/>
            <a:ext cx="914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8368" y="1737360"/>
            <a:ext cx="5291176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847088"/>
            <a:ext cx="483397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▍</a:t>
            </a:r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改革中的统计难题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96112" y="2176272"/>
            <a:ext cx="48339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机构改革中人员调离、借调、回归频繁。若系统仅记录"当前状态"，历史台账将出现两类错账：已调离人员的既往出席被整体丢失；借调期间本应"不考勤"的会议被误计入应到人数。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42152" y="1737360"/>
            <a:ext cx="5291176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9896" y="1847088"/>
            <a:ext cx="483397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▍</a:t>
            </a:r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时间线机制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79896" y="2176272"/>
            <a:ext cx="48339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为每位人员维护状态变更时间线（按日期正序，可整包编辑）；全应用统一通过时间线口径函数判定任一日期时点的在职状态，看板、会议、导出、组织架构同源复用，不再各自为政。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8368" y="3218688"/>
            <a:ext cx="10874959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310128"/>
            <a:ext cx="3657600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▍</a:t>
            </a:r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口径示例 · 借调与回归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75888" y="3310128"/>
            <a:ext cx="7583119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示例人员：2024-01 入职 → 2025-03-01 借调 → 2025-09-01 回归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115568" y="3913632"/>
            <a:ext cx="2988168" cy="475488"/>
          </a:xfrm>
          <a:prstGeom prst="rect">
            <a:avLst/>
          </a:prstGeom>
          <a:solidFill>
            <a:srgbClr val="EAF6E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3913632"/>
            <a:ext cx="2988168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8E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计入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15568" y="4425696"/>
            <a:ext cx="298816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在职期 · 正常考勤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03736" y="3785616"/>
            <a:ext cx="0" cy="731520"/>
          </a:xfrm>
          <a:prstGeom prst="line">
            <a:avLst/>
          </a:prstGeom>
          <a:noFill/>
          <a:ln w="12700">
            <a:solidFill>
              <a:srgbClr val="CFD4DA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3189336" y="3547872"/>
            <a:ext cx="182880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2025-03-01 借调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03736" y="3913632"/>
            <a:ext cx="3386590" cy="475488"/>
          </a:xfrm>
          <a:prstGeom prst="rect">
            <a:avLst/>
          </a:prstGeom>
          <a:solidFill>
            <a:srgbClr val="FBEBE9"/>
          </a:solidFill>
          <a:ln w="12700">
            <a:solidFill>
              <a:srgbClr val="C0271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03736" y="3913632"/>
            <a:ext cx="3386590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271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不计入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103736" y="4425696"/>
            <a:ext cx="338659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借调期 · 不参与考勤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490326" y="3785616"/>
            <a:ext cx="0" cy="731520"/>
          </a:xfrm>
          <a:prstGeom prst="line">
            <a:avLst/>
          </a:prstGeom>
          <a:noFill/>
          <a:ln w="12700">
            <a:solidFill>
              <a:srgbClr val="CFD4DA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6575926" y="3547872"/>
            <a:ext cx="182880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2025-09-01 回归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490326" y="3913632"/>
            <a:ext cx="3585801" cy="475488"/>
          </a:xfrm>
          <a:prstGeom prst="rect">
            <a:avLst/>
          </a:prstGeom>
          <a:solidFill>
            <a:srgbClr val="EAF6EE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0326" y="3913632"/>
            <a:ext cx="3585801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8E3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计入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490326" y="4425696"/>
            <a:ext cx="3585801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回归后 · 恢复考勤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15568" y="3547872"/>
            <a:ext cx="128016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2024-01 入职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801807" y="3547872"/>
            <a:ext cx="548640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15568" y="4553712"/>
            <a:ext cx="9960559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同一份名单，跨年度、跨状态变更自动得出正确的应到与出勤结果。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58368" y="4946904"/>
            <a:ext cx="3503066" cy="932688"/>
          </a:xfrm>
          <a:prstGeom prst="roundRect">
            <a:avLst>
              <a:gd name="adj" fmla="val 5882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9536" y="5038344"/>
            <a:ext cx="310073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历史台账完整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59536" y="5303520"/>
            <a:ext cx="310073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离开前与回归后照常计入，统计期内调动者仍在行范围内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344314" y="4946904"/>
            <a:ext cx="3503066" cy="932688"/>
          </a:xfrm>
          <a:prstGeom prst="roundRect">
            <a:avLst>
              <a:gd name="adj" fmla="val 5882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45482" y="5038344"/>
            <a:ext cx="310073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口径全局一致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45482" y="5303520"/>
            <a:ext cx="310073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看板、会议、导出、组织架构同源判定，结果可相互印证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030261" y="4946904"/>
            <a:ext cx="3503066" cy="932688"/>
          </a:xfrm>
          <a:prstGeom prst="roundRect">
            <a:avLst>
              <a:gd name="adj" fmla="val 5882"/>
            </a:avLst>
          </a:prstGeom>
          <a:solidFill>
            <a:srgbClr val="F6F7F9"/>
          </a:solidFill>
          <a:ln w="12700">
            <a:solidFill>
              <a:srgbClr val="F6F7F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31429" y="5038344"/>
            <a:ext cx="310073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纠错即重算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231429" y="5303520"/>
            <a:ext cx="310073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编辑状态时间线并保存，全部统计实时重算，无需数据迁移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/ 核心优势 ⑤ ⑥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10874959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谈心谈话紧扣文件精神 · 对外合作拓展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060704"/>
            <a:ext cx="10874959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对内规范谈话记录，对外联合上海市气象数据中心开展试用迭代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58368" y="1444752"/>
            <a:ext cx="10874959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345936"/>
            <a:ext cx="6400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广东省气象服务中心 · 科技项目课题答辩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618927" y="6345936"/>
            <a:ext cx="914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8368" y="1737360"/>
            <a:ext cx="5291176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" y="1737360"/>
            <a:ext cx="5272888" cy="41148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1865376"/>
            <a:ext cx="483397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▍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优势 ⑤ 谈心谈话 · 紧扣文件精神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6112" y="2249424"/>
            <a:ext cx="483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类谈话类型预设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42416" y="2441448"/>
            <a:ext cx="468767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对应文件规定的谈话主体关系：领导班子成员之间、班子成员与下一级班子成员之间、党支部委员之间、支部委员与党员之间、党员之间、支部委员及党员与群众之间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96112" y="2847594"/>
            <a:ext cx="483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"五必谈"情形勾选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42416" y="3039618"/>
            <a:ext cx="468767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岗位变动、组织处置、家庭重大变故或困难健康问题、苗头性问题或不良反映、班子或党员关系紧张——均附释义提示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96112" y="3445764"/>
            <a:ext cx="483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种谈话方式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42416" y="3637788"/>
            <a:ext cx="46876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个别谈话、集体谈话、组织约谈；集体与约谈支持多对象，职务自动并列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96112" y="3882009"/>
            <a:ext cx="483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智能联动填报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42416" y="4074033"/>
            <a:ext cx="468767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从人员库选取谈话人与对象后自动带出职务；提纲、时间（上午 / 下午）、地点、联系人字段齐备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96112" y="4480179"/>
            <a:ext cx="483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台账一键导出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42416" y="4672203"/>
            <a:ext cx="46876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明细 + 按月统计（含组织约谈）+ 谈话类型统计，直接形成规范台账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96112" y="4828032"/>
            <a:ext cx="4815688" cy="914400"/>
          </a:xfrm>
          <a:prstGeom prst="roundRect">
            <a:avLst>
              <a:gd name="adj" fmla="val 6000"/>
            </a:avLst>
          </a:prstGeom>
          <a:solidFill>
            <a:srgbClr val="FFF4F2"/>
          </a:solidFill>
          <a:ln w="12700">
            <a:solidFill>
              <a:srgbClr val="F0C9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0704" y="4919472"/>
            <a:ext cx="4468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记录要素齐备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60704" y="5157216"/>
            <a:ext cx="4449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谈话人 / 谈话对象 / 职务 / 谈话时间（上午 · 下午）/ 地点 / 提纲 / 联系方式 / 是否五必谈 / 备注，导出即为完整台账。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42152" y="1737360"/>
            <a:ext cx="5291176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51296" y="1737360"/>
            <a:ext cx="5272888" cy="41148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9896" y="1865376"/>
            <a:ext cx="483397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▍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优势 ⑥ 对外合作 · 拓展与迭代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79896" y="2249424"/>
            <a:ext cx="483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联合上海市气象数据中心开展试用迭代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626200" y="2441448"/>
            <a:ext cx="46876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跨单位真实场景试用，验证系统在异地、异岗环境下的通用性与稳定性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479896" y="2685669"/>
            <a:ext cx="483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数据同构，跨单位可直接流转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626200" y="2877693"/>
            <a:ext cx="46876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 Schema V3 备份结构，备份文件在单位之间可导入、可融合，无需二次改造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79896" y="3121914"/>
            <a:ext cx="483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反馈驱动版本持续演进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626200" y="3313938"/>
            <a:ext cx="46876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由试用反馈收敛需求，形成 V3.3 → V3.5.3 连续迭代节奏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479896" y="3558159"/>
            <a:ext cx="483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</a:t>
            </a:r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形成可复制推广的样板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626200" y="3750183"/>
            <a:ext cx="468767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为同类基层党务台账数字化提供可复用的设计模式与经验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479896" y="4828032"/>
            <a:ext cx="4815688" cy="914400"/>
          </a:xfrm>
          <a:prstGeom prst="roundRect">
            <a:avLst>
              <a:gd name="adj" fmla="val 6000"/>
            </a:avLst>
          </a:prstGeom>
          <a:solidFill>
            <a:srgbClr val="EDF4FB"/>
          </a:solidFill>
          <a:ln w="12700">
            <a:solidFill>
              <a:srgbClr val="C7DC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44488" y="4919472"/>
            <a:ext cx="446821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试用迭代闭环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644488" y="5212080"/>
            <a:ext cx="1011898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7DC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99352" y="5212080"/>
            <a:ext cx="90217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跨单位试用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802690" y="5212080"/>
            <a:ext cx="1011898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7DC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57554" y="5212080"/>
            <a:ext cx="90217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需求收敛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960891" y="5212080"/>
            <a:ext cx="1011898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7DC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15755" y="5212080"/>
            <a:ext cx="90217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版本迭代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0119093" y="5212080"/>
            <a:ext cx="1011898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C7DCE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173957" y="5212080"/>
            <a:ext cx="90217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F4E7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再验证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365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/ 核心优势 ⑦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621792"/>
            <a:ext cx="10874959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减负增效 · 基层工作量显著下降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060704"/>
            <a:ext cx="10874959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17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把党小组长从重复填报与人工核对中解放出来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58368" y="1444752"/>
            <a:ext cx="10874959" cy="0"/>
          </a:xfrm>
          <a:prstGeom prst="line">
            <a:avLst/>
          </a:prstGeom>
          <a:noFill/>
          <a:ln w="12700">
            <a:solidFill>
              <a:srgbClr val="E4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6272784"/>
            <a:ext cx="10874959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6345936"/>
            <a:ext cx="6400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广东省气象服务中心 · 科技项目课题答辩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0618927" y="6345936"/>
            <a:ext cx="9144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8368" y="1773936"/>
            <a:ext cx="10874959" cy="365760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773936"/>
            <a:ext cx="150876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06040" y="1773936"/>
            <a:ext cx="233172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传统方式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212080" y="1773936"/>
            <a:ext cx="6211519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系统方式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2139696"/>
            <a:ext cx="10874959" cy="548640"/>
          </a:xfrm>
          <a:prstGeom prst="rect">
            <a:avLst/>
          </a:prstGeom>
          <a:solidFill>
            <a:srgbClr val="F6F7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2688336"/>
            <a:ext cx="10874959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13969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参会人员录入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32888" y="213969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逐人勾选或手工抄录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38928" y="2139696"/>
            <a:ext cx="62115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粘贴群内接龙文本智能解析，自动识别参会 / 请假 / 列席，序号格式全容错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8368" y="2688336"/>
            <a:ext cx="1087495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3236976"/>
            <a:ext cx="10874959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268833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名单批量选择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32888" y="268833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逐个查找后手工添加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38928" y="2688336"/>
            <a:ext cx="62115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一键全选在职、选择支委委员或党小组人员、一键补齐未覆盖在职人员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58368" y="3236976"/>
            <a:ext cx="10874959" cy="548640"/>
          </a:xfrm>
          <a:prstGeom prst="rect">
            <a:avLst/>
          </a:prstGeom>
          <a:solidFill>
            <a:srgbClr val="F6F7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3785616"/>
            <a:ext cx="10874959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23697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重复性会议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32888" y="323697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逐项重新填写全部字段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38928" y="3236976"/>
            <a:ext cx="62115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一键复用上一条记录（含参会名单），自动清理旧快照防串档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58368" y="3785616"/>
            <a:ext cx="10874959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" y="4334256"/>
            <a:ext cx="10874959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378561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组长数据归集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32888" y="378561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手工汇总、逐条核对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38928" y="3785616"/>
            <a:ext cx="62115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组长模板 Excel 一键融合导入（姓名三级匹配、行号级校验，不误建人员）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58368" y="4334256"/>
            <a:ext cx="10874959" cy="548640"/>
          </a:xfrm>
          <a:prstGeom prst="rect">
            <a:avLst/>
          </a:prstGeom>
          <a:solidFill>
            <a:srgbClr val="F6F7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" y="4882896"/>
            <a:ext cx="10874959" cy="0"/>
          </a:xfrm>
          <a:prstGeom prst="line">
            <a:avLst/>
          </a:prstGeom>
          <a:noFill/>
          <a:ln w="9525">
            <a:solidFill>
              <a:srgbClr val="E4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433425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快照与留痕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532888" y="433425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AA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靠人工维护与记忆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38928" y="4334256"/>
            <a:ext cx="62115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保存自动写快照；人员信息变更自动生成留痕；定时自动备份与自动融合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58368" y="4882896"/>
            <a:ext cx="10874959" cy="18288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8368" y="5029200"/>
            <a:ext cx="10874959" cy="877824"/>
          </a:xfrm>
          <a:prstGeom prst="roundRect">
            <a:avLst>
              <a:gd name="adj" fmla="val 6250"/>
            </a:avLst>
          </a:prstGeom>
          <a:solidFill>
            <a:srgbClr val="FFF4F2"/>
          </a:solidFill>
          <a:ln w="12700">
            <a:solidFill>
              <a:srgbClr val="F0C9C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7512" y="5047488"/>
            <a:ext cx="45720" cy="841248"/>
          </a:xfrm>
          <a:prstGeom prst="rect">
            <a:avLst/>
          </a:prstGeom>
          <a:solidFill>
            <a:srgbClr val="CC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6112" y="5084064"/>
            <a:ext cx="219456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结语与展望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96112" y="5321808"/>
            <a:ext cx="1039947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3D42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已形成 V3.5.3 稳定版本：七大功能模块、完全离线运行、全口径统计与规范化台账导出。下一步将深化跨单位试用迭代，扩展组织架构历史视图，持续完善统计口径的自动化测试体系。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58368" y="5943600"/>
            <a:ext cx="10874959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C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敬请各位专家批评指正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广东省气象服务中心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党建工作台账系统 · 科技项目课题答辩</dc:title>
  <dc:subject>党建台账离线可视化与统计决策平台</dc:subject>
  <dc:creator>广东省气象服务中心</dc:creator>
  <cp:lastModifiedBy>广东省气象服务中心</cp:lastModifiedBy>
  <cp:revision>1</cp:revision>
  <dcterms:created xsi:type="dcterms:W3CDTF">2026-10-07T11:59:58Z</dcterms:created>
  <dcterms:modified xsi:type="dcterms:W3CDTF">2026-10-07T11:59:58Z</dcterms:modified>
</cp:coreProperties>
</file>